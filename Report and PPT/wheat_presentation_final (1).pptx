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3" r:id="rId7"/>
    <p:sldId id="274" r:id="rId8"/>
    <p:sldId id="275" r:id="rId9"/>
    <p:sldId id="281" r:id="rId10"/>
    <p:sldId id="276" r:id="rId11"/>
    <p:sldId id="277" r:id="rId12"/>
    <p:sldId id="283" r:id="rId13"/>
    <p:sldId id="282" r:id="rId14"/>
    <p:sldId id="278" r:id="rId15"/>
    <p:sldId id="280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9EC75-4283-2A05-8C24-8CDBE002A093}" v="10" dt="2026-04-30T05:57:15.261"/>
    <p1510:client id="{26DCDF2A-599C-7108-E6A5-E53C8CE6DDBB}" v="272" dt="2026-04-29T12:16:13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d7e861c9-d924-4413-86db-05780e928657::" providerId="AD" clId="Web-{1C89EC75-4283-2A05-8C24-8CDBE002A093}"/>
    <pc:docChg chg="modSld">
      <pc:chgData name="Guest User" userId="S::urn:spo:tenantanon#d7e861c9-d924-4413-86db-05780e928657::" providerId="AD" clId="Web-{1C89EC75-4283-2A05-8C24-8CDBE002A093}" dt="2026-04-30T05:57:15.261" v="9" actId="20577"/>
      <pc:docMkLst>
        <pc:docMk/>
      </pc:docMkLst>
      <pc:sldChg chg="modSp">
        <pc:chgData name="Guest User" userId="S::urn:spo:tenantanon#d7e861c9-d924-4413-86db-05780e928657::" providerId="AD" clId="Web-{1C89EC75-4283-2A05-8C24-8CDBE002A093}" dt="2026-04-30T05:57:15.261" v="9" actId="20577"/>
        <pc:sldMkLst>
          <pc:docMk/>
          <pc:sldMk cId="0" sldId="274"/>
        </pc:sldMkLst>
        <pc:spChg chg="mod">
          <ac:chgData name="Guest User" userId="S::urn:spo:tenantanon#d7e861c9-d924-4413-86db-05780e928657::" providerId="AD" clId="Web-{1C89EC75-4283-2A05-8C24-8CDBE002A093}" dt="2026-04-30T05:57:15.261" v="9" actId="20577"/>
          <ac:spMkLst>
            <pc:docMk/>
            <pc:sldMk cId="0" sldId="274"/>
            <ac:spMk id="5" creationId="{00000000-0000-0000-0000-000000000000}"/>
          </ac:spMkLst>
        </pc:spChg>
      </pc:sldChg>
      <pc:sldChg chg="modSp">
        <pc:chgData name="Guest User" userId="S::urn:spo:tenantanon#d7e861c9-d924-4413-86db-05780e928657::" providerId="AD" clId="Web-{1C89EC75-4283-2A05-8C24-8CDBE002A093}" dt="2026-04-30T05:57:08.011" v="8" actId="20577"/>
        <pc:sldMkLst>
          <pc:docMk/>
          <pc:sldMk cId="720620203" sldId="281"/>
        </pc:sldMkLst>
        <pc:spChg chg="mod">
          <ac:chgData name="Guest User" userId="S::urn:spo:tenantanon#d7e861c9-d924-4413-86db-05780e928657::" providerId="AD" clId="Web-{1C89EC75-4283-2A05-8C24-8CDBE002A093}" dt="2026-04-30T05:57:08.011" v="8" actId="20577"/>
          <ac:spMkLst>
            <pc:docMk/>
            <pc:sldMk cId="720620203" sldId="281"/>
            <ac:spMk id="3" creationId="{4F02ABBE-D0DC-6889-A736-679CE5F6F296}"/>
          </ac:spMkLst>
        </pc:spChg>
      </pc:sldChg>
      <pc:sldChg chg="modSp">
        <pc:chgData name="Guest User" userId="S::urn:spo:tenantanon#d7e861c9-d924-4413-86db-05780e928657::" providerId="AD" clId="Web-{1C89EC75-4283-2A05-8C24-8CDBE002A093}" dt="2026-04-30T05:55:49.660" v="6" actId="20577"/>
        <pc:sldMkLst>
          <pc:docMk/>
          <pc:sldMk cId="3105611606" sldId="282"/>
        </pc:sldMkLst>
        <pc:spChg chg="mod">
          <ac:chgData name="Guest User" userId="S::urn:spo:tenantanon#d7e861c9-d924-4413-86db-05780e928657::" providerId="AD" clId="Web-{1C89EC75-4283-2A05-8C24-8CDBE002A093}" dt="2026-04-30T05:55:49.660" v="6" actId="20577"/>
          <ac:spMkLst>
            <pc:docMk/>
            <pc:sldMk cId="3105611606" sldId="282"/>
            <ac:spMk id="3" creationId="{80E8EF3F-14F0-36EF-25FC-F56B35ADCE6F}"/>
          </ac:spMkLst>
        </pc:spChg>
      </pc:sldChg>
      <pc:sldChg chg="modSp">
        <pc:chgData name="Guest User" userId="S::urn:spo:tenantanon#d7e861c9-d924-4413-86db-05780e928657::" providerId="AD" clId="Web-{1C89EC75-4283-2A05-8C24-8CDBE002A093}" dt="2026-04-30T05:55:10.721" v="4" actId="20577"/>
        <pc:sldMkLst>
          <pc:docMk/>
          <pc:sldMk cId="3276347429" sldId="283"/>
        </pc:sldMkLst>
        <pc:spChg chg="mod">
          <ac:chgData name="Guest User" userId="S::urn:spo:tenantanon#d7e861c9-d924-4413-86db-05780e928657::" providerId="AD" clId="Web-{1C89EC75-4283-2A05-8C24-8CDBE002A093}" dt="2026-04-30T05:55:10.721" v="4" actId="20577"/>
          <ac:spMkLst>
            <pc:docMk/>
            <pc:sldMk cId="3276347429" sldId="283"/>
            <ac:spMk id="3" creationId="{2338400C-025B-D2A2-C8E0-83017A0651B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Wheat Lodging Detection Using XAI and Deep Learning</a:t>
            </a:r>
            <a:endParaRPr lang="en-US" sz="2000" i="1" spc="-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Vanshita Garg (2210990949)     Vivek Goyal (2210990968)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Medha Goel (2210991915)     Saloni Sachdeva (2210992231)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Ashish Kumar, Assistant Professor, Chitkara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>
                <a:latin typeface="Times New Roman"/>
                <a:ea typeface="MS PGothic"/>
                <a:cs typeface="Times New Roman"/>
              </a:rPr>
              <a:t>Department of </a:t>
            </a:r>
            <a:r>
              <a:rPr lang="en-US" sz="2400" b="0" strike="noStrike" spc="-1">
                <a:latin typeface="Times New Roman"/>
                <a:ea typeface="MS PGothic"/>
                <a:cs typeface="Times New Roman"/>
              </a:rPr>
              <a:t>Computer Science and Engineering, </a:t>
            </a:r>
            <a:endParaRPr lang="en-US" sz="2000" b="0" strike="noStrike" spc="-1">
              <a:latin typeface="Times New Roman"/>
              <a:ea typeface="MS PGothic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>
                <a:latin typeface="Times New Roman"/>
              </a:rPr>
              <a:t>Agenda </a:t>
            </a:r>
            <a:endParaRPr lang="en" sz="3200">
              <a:latin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607891" y="1255233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Introduction</a:t>
            </a:r>
            <a:endParaRPr lang="en-US" sz="2400" b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Impact of Lodging</a:t>
            </a:r>
            <a:endParaRPr lang="en-US" sz="2400" b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Problem Statement</a:t>
            </a:r>
            <a:endParaRPr lang="en-US" sz="24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Objectives</a:t>
            </a:r>
            <a:endParaRPr lang="en-US" sz="2400" b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Traditional Machine Learning Models</a:t>
            </a:r>
            <a:endParaRPr lang="en-US" sz="2400" b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Deep Learning Architectures</a:t>
            </a:r>
            <a:endParaRPr lang="en-US" sz="2400" b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Models Used</a:t>
            </a:r>
          </a:p>
          <a:p>
            <a:pPr marL="34290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Training and Evaluation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Results</a:t>
            </a:r>
            <a:endParaRPr lang="en-US" sz="2400" b="0">
              <a:solidFill>
                <a:srgbClr val="000000"/>
              </a:solidFill>
              <a:latin typeface="Times New Roman"/>
            </a:endParaRP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2400" b="0">
                <a:solidFill>
                  <a:srgbClr val="000000"/>
                </a:solidFill>
                <a:latin typeface="Times New Roman"/>
              </a:rP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>
                <a:latin typeface="Times New Roman"/>
              </a:rPr>
              <a:t>Introduction</a:t>
            </a:r>
            <a:endParaRPr lang="en" sz="3200">
              <a:latin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7150B7-743F-84B2-62DC-3D449C24EFE7}"/>
              </a:ext>
            </a:extLst>
          </p:cNvPr>
          <p:cNvSpPr txBox="1"/>
          <p:nvPr/>
        </p:nvSpPr>
        <p:spPr>
          <a:xfrm>
            <a:off x="454981" y="1420427"/>
            <a:ext cx="846707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Wheat is one of the most important staple crops globally and plays a crucial role in ensuring food security. However, its production is often affected by environmental factors such as wind, rainfall, and soil conditions.</a:t>
            </a:r>
          </a:p>
          <a:p>
            <a:r>
              <a:rPr lang="en-US">
                <a:latin typeface="Times New Roman"/>
                <a:cs typeface="Times New Roman"/>
              </a:rPr>
              <a:t>One major issue is lodging, where crops bend or fall from their upright position. This affects crop growth, reduces productivity, and creates challenges in harvesting.</a:t>
            </a:r>
          </a:p>
          <a:p>
            <a:r>
              <a:rPr lang="en-US">
                <a:latin typeface="Times New Roman"/>
                <a:ea typeface="+mn-lt"/>
                <a:cs typeface="Times New Roman"/>
              </a:rPr>
              <a:t>Lodging refers to the bending or flattening of wheat plants due to external forces or structural weakness.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Types: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Stem Lodging → bending of upper plant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Root Lodging → failure at root level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Main Causes: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Strong winds and heavy rainfall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Excess nitrogen fertilization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High plant density</a:t>
            </a:r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" sz="3200">
                <a:latin typeface="Times New Roman"/>
              </a:rPr>
              <a:t>Impact of Lodging</a:t>
            </a:r>
            <a:endParaRPr lang="en" sz="3200">
              <a:latin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452532" y="1710214"/>
            <a:ext cx="8317145" cy="5100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Lodging has a significant negative impact on agriculture:</a:t>
            </a:r>
            <a:endParaRPr lang="en-US" sz="2000" b="1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Reduces crop yield by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30–50%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due to poor grain filling and reduced photosynthesis 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Degrades grain quality (shriveling, low weight, poor market value) 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Increases risk of fungal diseases due to excess moisture and low airflow 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Makes harvesting difficult, causing higher grain loss and labor cost 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Leads to significant economic losses for farmers 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Disrupts nutrient and water uptake in plants 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Causes uneven crop maturity and non-uniform harvest </a:t>
            </a:r>
            <a:endParaRPr lang="en-US" sz="20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Increases chances of crop damage due to soil contact (rotting, contamination)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>
              <a:cs typeface="Arial"/>
            </a:endParaRPr>
          </a:p>
          <a:p>
            <a:pPr lvl="0">
              <a:lnSpc>
                <a:spcPct val="114999"/>
              </a:lnSpc>
              <a:spcBef>
                <a:spcPts val="200"/>
              </a:spcBef>
            </a:pPr>
            <a:endParaRPr 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n" sz="3200">
                <a:latin typeface="Times New Roman"/>
              </a:rPr>
              <a:t>Problem Statement</a:t>
            </a:r>
            <a:endParaRPr lang="en" sz="3200">
              <a:latin typeface="Times New Roman" panose="02020603050405020304" pitchFamily="18" charset="0"/>
            </a:endParaRP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807638" y="1255233"/>
            <a:ext cx="7529266" cy="5100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Traditional lodging detection methods rely on manual field inspection.</a:t>
            </a:r>
            <a:endParaRPr lang="en-US" sz="2000">
              <a:latin typeface="Times New Roman"/>
              <a:cs typeface="Times New Roman"/>
            </a:endParaRPr>
          </a:p>
          <a:p>
            <a:pPr lvl="0"/>
            <a:r>
              <a:rPr lang="en-US" sz="20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Limitations: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Time-consuming </a:t>
            </a:r>
            <a:r>
              <a:rPr lang="en-US" sz="2000" b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and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labor-intensive, especially </a:t>
            </a:r>
            <a:r>
              <a:rPr lang="en-US" sz="2000" b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for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large agricultural fields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Prone to human error, leading to subjective and inconsistent results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Inefficient for real-time monitoring and early detection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Not scalable for large-scale farming and precision agriculture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Delays in detection can lead to increased crop damage and losses 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Need for Solution:</a:t>
            </a:r>
            <a:br>
              <a:rPr lang="en-US" sz="2000" b="1">
                <a:latin typeface="Times New Roman"/>
                <a:ea typeface="+mn-lt"/>
                <a:cs typeface="Times New Roman"/>
              </a:rPr>
            </a:br>
            <a:r>
              <a:rPr lang="en-US" sz="20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There is a strong need for an automated, accurate, and scalable system that can detect lodging efficiently</a:t>
            </a:r>
            <a:r>
              <a:rPr lang="en-US" sz="2000" b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,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enable early intervention</a:t>
            </a:r>
            <a:r>
              <a:rPr lang="en-US" sz="2000" b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, and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support modern precision agriculture practices.</a:t>
            </a:r>
            <a:endParaRPr lang="en-US" sz="2000">
              <a:latin typeface="Times New Roman"/>
              <a:cs typeface="Times New Roman"/>
            </a:endParaRPr>
          </a:p>
          <a:p>
            <a:pPr lvl="0">
              <a:lnSpc>
                <a:spcPct val="114999"/>
              </a:lnSpc>
              <a:spcBef>
                <a:spcPts val="200"/>
              </a:spcBef>
            </a:pPr>
            <a:endParaRPr 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81B5-65C1-78AE-EE46-F69274BD2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09961" y="310719"/>
            <a:ext cx="5486040" cy="914040"/>
          </a:xfrm>
        </p:spPr>
        <p:txBody>
          <a:bodyPr/>
          <a:lstStyle/>
          <a:p>
            <a:pPr algn="ctr"/>
            <a:r>
              <a:rPr lang="en" sz="3200">
                <a:latin typeface="Times New Roman"/>
                <a:cs typeface="Times New Roman"/>
              </a:rPr>
              <a:t>Objectives</a:t>
            </a:r>
          </a:p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2ABBE-D0DC-6889-A736-679CE5F6F2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438064"/>
            <a:ext cx="8229240" cy="3788630"/>
          </a:xfrm>
        </p:spPr>
        <p:txBody>
          <a:bodyPr/>
          <a:lstStyle/>
          <a:p>
            <a:pPr marL="0" indent="0">
              <a:buNone/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The objectives of this project are:</a:t>
            </a:r>
            <a:endParaRPr lang="en-US" sz="2400" b="1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To detect wheat lodging using UAV-based RGB images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To compare machine learning and deep learning models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To improve accuracy of detection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To develop a scalable and efficient solution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To incorporate Explainable AI (XAI) for transparency</a:t>
            </a:r>
            <a:endParaRPr lang="en-US" sz="24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20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-31071" y="0"/>
            <a:ext cx="6552219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>
                <a:latin typeface="Times New Roman" panose="02020603050405020304" pitchFamily="18" charset="0"/>
              </a:rPr>
              <a:t>Traditional Machine Learning Models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43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Training Setup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70:30 train-test split | 10 runs per model | Tukey's test (p=0.05)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Random Forest (RF)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Multiple decision trees via bootstrapped subsets + majority voting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Best reliability — lowest standard deviation across all experiments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Support Vector Machine (SVM)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Optimal hyperplane separating lodged/non-lodged classes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RBF kernel for non-linear pattern classification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Neural Network (NN)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Interconnected layers learn non-linear feature relationships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More sensitive to parameter selection than RF</a:t>
            </a:r>
          </a:p>
        </p:txBody>
      </p:sp>
      <p:pic>
        <p:nvPicPr>
          <p:cNvPr id="111" name="Picture 111" descr="Fig. 3: Traditional ML work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000" y="1100000"/>
            <a:ext cx="4350000" cy="37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>
                <a:latin typeface="Times New Roman" panose="02020603050405020304" pitchFamily="18" charset="0"/>
              </a:rPr>
              <a:t>Deep Learning Architectures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43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All CNNs implemented in MATLAB | Augmented: rotation, flipping, scaling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Simple CNN (Baseline ~0.5M params)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Lightweight architecture — establishes baseline deep learning benchmark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VGG-16 (~138M params)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16-layer deep sequential network with strong feature learning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Highest computational cost among the three models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GoogLeNet — Best Model (~6M params)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Inception modules apply multiple filter sizes simultaneously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Multi-scale feature extraction — ideal for varying lodging patterns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603050405020304" pitchFamily="18" charset="0"/>
              </a:rPr>
              <a:t>Most computationally efficient with highest accuracy</a:t>
            </a:r>
          </a:p>
        </p:txBody>
      </p:sp>
      <p:pic>
        <p:nvPicPr>
          <p:cNvPr id="111" name="Picture 111" descr="Fig. 4: CNN Architectur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000" y="1100000"/>
            <a:ext cx="4350000" cy="37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6168-6EE8-E49A-C95D-5E7CBE23A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825" y="0"/>
            <a:ext cx="5486040" cy="914040"/>
          </a:xfrm>
        </p:spPr>
        <p:txBody>
          <a:bodyPr/>
          <a:lstStyle/>
          <a:p>
            <a:r>
              <a:rPr lang="en-US" sz="3600">
                <a:latin typeface="Times New Roman"/>
                <a:cs typeface="Times New Roman"/>
              </a:rPr>
              <a:t>Models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8400C-025B-D2A2-C8E0-83017A0651B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70034" y="2975741"/>
            <a:ext cx="5486040" cy="914040"/>
          </a:xfrm>
        </p:spPr>
        <p:txBody>
          <a:bodyPr/>
          <a:lstStyle/>
          <a:p>
            <a:pPr marL="0" indent="0">
              <a:buNone/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Machine Learning Models: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Random Forest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Support Vector Machine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Neural Network </a:t>
            </a: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Deep Learning Models: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CNN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VGG-16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err="1">
                <a:latin typeface="Times New Roman"/>
                <a:ea typeface="+mn-lt"/>
                <a:cs typeface="Times New Roman"/>
              </a:rPr>
              <a:t>GoogLeNet</a:t>
            </a:r>
            <a:r>
              <a:rPr lang="en-US" sz="2400">
                <a:latin typeface="Times New Roman"/>
                <a:ea typeface="+mn-lt"/>
                <a:cs typeface="Times New Roman"/>
              </a:rPr>
              <a:t>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Deep learning models automatically learn features from images.</a:t>
            </a:r>
            <a:endParaRPr lang="en-US" sz="2400">
              <a:latin typeface="Times New Roman"/>
              <a:cs typeface="Times New Roman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7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7DC4-D5CF-41FA-E988-352C6572B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981" y="-266330"/>
            <a:ext cx="5486040" cy="914040"/>
          </a:xfrm>
        </p:spPr>
        <p:txBody>
          <a:bodyPr/>
          <a:lstStyle/>
          <a:p>
            <a:endParaRPr lang="en-US"/>
          </a:p>
          <a:p>
            <a:r>
              <a:rPr lang="en-US" sz="3200">
                <a:latin typeface="Times New Roman"/>
                <a:cs typeface="Times New Roman"/>
              </a:rPr>
              <a:t>Training and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8EF3F-14F0-36EF-25FC-F56B35ADCE6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79888" y="2975741"/>
            <a:ext cx="5486040" cy="914040"/>
          </a:xfrm>
        </p:spPr>
        <p:txBody>
          <a:bodyPr/>
          <a:lstStyle/>
          <a:p>
            <a:r>
              <a:rPr lang="en-US" sz="2400">
                <a:latin typeface="Times New Roman"/>
                <a:ea typeface="+mn-lt"/>
                <a:cs typeface="Times New Roman"/>
              </a:rPr>
              <a:t>Data split: 70% training, 30% testing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Data augmentation applied </a:t>
            </a: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Evaluation Metrics: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Precision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Recall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F1-score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Accuracy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Multiple runs performed for reliable results.</a:t>
            </a:r>
            <a:endParaRPr lang="en-US" sz="2400">
              <a:latin typeface="Times New Roman"/>
              <a:cs typeface="Times New Roman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11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600">
                <a:latin typeface="Times New Roman"/>
              </a:rPr>
              <a:t>Results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774348" y="1432786"/>
            <a:ext cx="7174157" cy="5100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Random Forest outperformed other traditional machine learning models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Deep learning models achieved significantly higher accuracy than ML approaches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GoogLeNet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delivered the best performance with ~94</a:t>
            </a:r>
            <a:r>
              <a:rPr lang="en-US" sz="2000" b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%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accuracy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Model accuracy improved when trained on later-stage crop images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Deep models captured complex spatial patterns more effectively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Results demonstrate the effectiveness of AI-based automated lodging detection systems </a:t>
            </a:r>
            <a:endParaRPr lang="en-US" sz="200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spcBef>
                <a:spcPts val="200"/>
              </a:spcBef>
            </a:pPr>
            <a:endParaRPr 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Shape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>
                <a:latin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ContentShape"/>
          <p:cNvSpPr txBox="1"/>
          <p:nvPr/>
        </p:nvSpPr>
        <p:spPr>
          <a:xfrm>
            <a:off x="164008" y="100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Key Findings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UAS RGB imagery with ML provides scalable, affordable lodging detection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Random Forest: most reliable traditional ML with lowest variance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GoogLeNet: highest accuracy (94.1%) via multi-scale Inception design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No statistically significant difference between RF and GoogLeNet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Later imagery (Aug 8) consistently outperforms early-stage (Jul 23)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Implications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Low-cost RGB drones can replace expensive multispectral sensors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Deep learning better suited for large-scale agricultural monitoring</a:t>
            </a:r>
          </a:p>
          <a:p>
            <a:pPr>
              <a:lnSpc>
                <a:spcPct val="115000"/>
              </a:lnSpc>
              <a:spcBef>
                <a:spcPts val="200"/>
              </a:spcBef>
            </a:pPr>
            <a:r>
              <a:rPr 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Future Scope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Regression models to estimate lodging severity (beyond binary classification)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Integrate XAI for interpretable decisions | Real-time drone operations</a:t>
            </a:r>
          </a:p>
          <a:p>
            <a:pPr marL="342900" lvl="0" indent="-3429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100"/>
              <a:buChar char="●"/>
            </a:pPr>
            <a:r>
              <a:rPr lang="en-US" sz="1700" b="0">
                <a:solidFill>
                  <a:srgbClr val="000000"/>
                </a:solidFill>
                <a:latin typeface="Times New Roman" panose="02020603050405020304" pitchFamily="18" charset="0"/>
              </a:rPr>
              <a:t>Explore Vision Transformers (ViTs) and edge-computing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Objectives </vt:lpstr>
      <vt:lpstr>PowerPoint Presentation</vt:lpstr>
      <vt:lpstr>PowerPoint Presentation</vt:lpstr>
      <vt:lpstr>Models Used</vt:lpstr>
      <vt:lpstr> Training and Evaluation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revision>1</cp:revision>
  <dcterms:created xsi:type="dcterms:W3CDTF">2010-04-09T07:36:15Z</dcterms:created>
  <dcterms:modified xsi:type="dcterms:W3CDTF">2026-04-30T05:57:51Z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